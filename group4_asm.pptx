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96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570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773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2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3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10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22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11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8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18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20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82344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8116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76614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331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8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540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40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186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5127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350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59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987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3109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624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85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07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AD53F540-DE6E-4E4D-BE91-823CB3D72352}" type="datetimeFigureOut">
              <a:rPr lang="en-IN" smtClean="0"/>
              <a:t>02-10-26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07126FDB-F5D1-4916-9227-D4CABD449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0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  <p:sldLayoutId id="2147483820" r:id="rId19"/>
    <p:sldLayoutId id="2147483821" r:id="rId20"/>
    <p:sldLayoutId id="2147483822" r:id="rId21"/>
    <p:sldLayoutId id="2147483823" r:id="rId22"/>
    <p:sldLayoutId id="2147483824" r:id="rId23"/>
    <p:sldLayoutId id="2147483825" r:id="rId24"/>
    <p:sldLayoutId id="2147483826" r:id="rId25"/>
    <p:sldLayoutId id="2147483827" r:id="rId26"/>
    <p:sldLayoutId id="2147483828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ysarahmadbhat/lung-cancer" TargetMode="External"/><Relationship Id="rId2" Type="http://schemas.openxmlformats.org/officeDocument/2006/relationships/hyperlink" Target="https://www.kaggle.com/datasets/himanshunakrani/iris-datase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radyumUmale/dwm_presentation_grp4" TargetMode="External"/><Relationship Id="rId4" Type="http://schemas.openxmlformats.org/officeDocument/2006/relationships/hyperlink" Target="https://www.kaggle.com/datasets/echo9k/uci-credit-approval/data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6239-D4FB-69EE-FA70-7E0247E9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400"/>
            <a:ext cx="9144000" cy="1754094"/>
          </a:xfrm>
        </p:spPr>
        <p:txBody>
          <a:bodyPr>
            <a:noAutofit/>
          </a:bodyPr>
          <a:lstStyle/>
          <a:p>
            <a:pPr algn="ctr"/>
            <a:r>
              <a:rPr lang="en-US" sz="6600" i="1" dirty="0">
                <a:solidFill>
                  <a:srgbClr val="FF0000"/>
                </a:solidFill>
                <a:latin typeface="Algerian" panose="04020705040A02060702" pitchFamily="82" charset="0"/>
              </a:rPr>
              <a:t>DECISION TREE INDUCTION</a:t>
            </a:r>
            <a:endParaRPr lang="en-IN" sz="6600" i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EA12-FCC0-933E-CC8C-5820D5EFE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388" y="3543768"/>
            <a:ext cx="8579224" cy="1153739"/>
          </a:xfrm>
        </p:spPr>
        <p:txBody>
          <a:bodyPr/>
          <a:lstStyle/>
          <a:p>
            <a:r>
              <a:rPr lang="en-US" sz="4000" i="1" dirty="0">
                <a:solidFill>
                  <a:srgbClr val="00B0F0"/>
                </a:solidFill>
                <a:latin typeface="Algerian" panose="04020705040A02060702" pitchFamily="82" charset="0"/>
              </a:rPr>
              <a:t>ATTRIBUTE  SELECTION  MEASURES</a:t>
            </a:r>
            <a:endParaRPr lang="en-IN" sz="4000" i="1" dirty="0">
              <a:solidFill>
                <a:srgbClr val="00B0F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0C00F-596A-1E47-1F69-FC7AA5B151FC}"/>
              </a:ext>
            </a:extLst>
          </p:cNvPr>
          <p:cNvSpPr txBox="1"/>
          <p:nvPr/>
        </p:nvSpPr>
        <p:spPr>
          <a:xfrm>
            <a:off x="8776447" y="5363170"/>
            <a:ext cx="266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31139 - Samit Kadam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31140 - Arjun Kankal</a:t>
            </a:r>
          </a:p>
          <a:p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31180 - Pradyum Umale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68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C65C-1211-F30A-CB57-BC422A95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72603"/>
            <a:ext cx="11631478" cy="11976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CONTENT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1531F-FAA6-8C31-19F0-3C6801BAD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1981199"/>
            <a:ext cx="9594476" cy="2680447"/>
          </a:xfrm>
        </p:spPr>
        <p:txBody>
          <a:bodyPr>
            <a:noAutofit/>
          </a:bodyPr>
          <a:lstStyle/>
          <a:p>
            <a:pPr marL="342900" indent="-342900" algn="l">
              <a:buAutoNum type="arabicPeriod"/>
            </a:pPr>
            <a:r>
              <a:rPr lang="en-US" sz="2400" dirty="0"/>
              <a:t>Introduction</a:t>
            </a:r>
          </a:p>
          <a:p>
            <a:pPr marL="342900" indent="-342900" algn="l">
              <a:buAutoNum type="arabicPeriod"/>
            </a:pPr>
            <a:r>
              <a:rPr lang="en-US" sz="2400" dirty="0"/>
              <a:t>Information Gain</a:t>
            </a:r>
          </a:p>
          <a:p>
            <a:pPr marL="342900" indent="-342900" algn="l">
              <a:buAutoNum type="arabicPeriod"/>
            </a:pPr>
            <a:r>
              <a:rPr lang="en-US" sz="2400" dirty="0"/>
              <a:t>Gain Ratio</a:t>
            </a:r>
          </a:p>
          <a:p>
            <a:pPr marL="342900" indent="-342900" algn="l">
              <a:buAutoNum type="arabicPeriod"/>
            </a:pPr>
            <a:r>
              <a:rPr lang="en-US" sz="2400" dirty="0"/>
              <a:t>Gini Index</a:t>
            </a:r>
          </a:p>
          <a:p>
            <a:pPr marL="342900" indent="-342900" algn="l">
              <a:buAutoNum type="arabicPeriod"/>
            </a:pPr>
            <a:r>
              <a:rPr lang="en-US" sz="2400" dirty="0"/>
              <a:t>Examples and Applications</a:t>
            </a:r>
          </a:p>
          <a:p>
            <a:pPr marL="342900" indent="-342900" algn="l">
              <a:buAutoNum type="arabicPeriod"/>
            </a:pPr>
            <a:r>
              <a:rPr lang="en-US" sz="2400" dirty="0"/>
              <a:t>References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7173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EDD6-3370-1F2D-60C3-5BF3BE3A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INTRODUCTION :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4FCEF-A0CB-BF2E-61CC-421716619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362010"/>
            <a:ext cx="10840627" cy="455814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decision tree is a flowchart-like tree structure, where each internal node denotes a test on an attribute, each branch represents an outcome of the test, and each leaf node holds a class label.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Given a record/data, X, for which the associated class label is unknown, the attribute values of the tuple are tested against the decision tree. A path is traced from the root to a leaf node, which holds the class prediction for that tuple.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construction of decision tree classifiers does not require any domain knowledge or parameter setting, and therefore is appropriate for exploratory knowledge discovery.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Decision trees can handle multidimensional data easily and pretty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Application areas are such as medicine, financial analysis (eligibility for loans), molecular biology, etc.</a:t>
            </a:r>
          </a:p>
        </p:txBody>
      </p:sp>
    </p:spTree>
    <p:extLst>
      <p:ext uri="{BB962C8B-B14F-4D97-AF65-F5344CB8AC3E}">
        <p14:creationId xmlns:p14="http://schemas.microsoft.com/office/powerpoint/2010/main" val="16966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9B88-DDA3-0365-805B-415D5B6A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2876"/>
            <a:ext cx="11125200" cy="79051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INTRODUCTION : ATTRIBUTE SELECTION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99F3-2514-8441-B6A3-2F93B7735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93386"/>
            <a:ext cx="10840627" cy="455814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is a metric for selecting the “splitting criterion” that “best” separates a given labelled data, containing of class-labelled training tuples, into individual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Ideally each partition would be pure, realistically it approaches the ideal situation, but never meets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If the splitting attribute is continuous-valued, then a split point must also be determined as part of the splitting criterion.</a:t>
            </a:r>
          </a:p>
        </p:txBody>
      </p:sp>
    </p:spTree>
    <p:extLst>
      <p:ext uri="{BB962C8B-B14F-4D97-AF65-F5344CB8AC3E}">
        <p14:creationId xmlns:p14="http://schemas.microsoft.com/office/powerpoint/2010/main" val="53671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80F5-ED41-767D-D3FB-BDE28E9E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96EEB-FA9E-BE13-4B6C-8BBC6DCAD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135" y="1362010"/>
                <a:ext cx="10840627" cy="5271872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is used to find the minimum information that is needed to classify the records in the resulting partitions.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minimizes the expected number of tests needed to classify a given record and guarantees that a simple (but not necessarily the simplest) tree is found.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Information contained in dataset D is given 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lvl="2" indent="0">
                  <a:buNone/>
                </a:pPr>
                <a:r>
                  <a:rPr lang="en-IN" sz="2000" dirty="0"/>
                  <a:t>			</a:t>
                </a:r>
                <a:r>
                  <a:rPr lang="en-IN" sz="3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Info</a:t>
                </a:r>
                <a:r>
                  <a:rPr lang="en-IN" sz="3600" i="1" dirty="0"/>
                  <a:t>(D) =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IN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 {</m:t>
                            </m:r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I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IN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3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sz="3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36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func>
                      </m:e>
                    </m:nary>
                  </m:oMath>
                </a14:m>
                <a:endParaRPr lang="en-IN" sz="3600" i="1" dirty="0"/>
              </a:p>
              <a:p>
                <a:pPr lvl="2" indent="0">
                  <a:buNone/>
                </a:pPr>
                <a:endParaRPr lang="en-IN" sz="2000" dirty="0"/>
              </a:p>
              <a:p>
                <a:pPr lvl="2" indent="0">
                  <a:buNone/>
                </a:pPr>
                <a:r>
                  <a:rPr lang="en-IN" sz="2000" dirty="0"/>
                  <a:t>where,</a:t>
                </a:r>
              </a:p>
              <a:p>
                <a:pPr lvl="2" indent="0">
                  <a:buNone/>
                </a:pPr>
                <a:r>
                  <a:rPr lang="en-IN" sz="20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: is the nonzero probability that an arbitrary record in D belongs to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, given 		by 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𝑟𝑒𝑐𝑜𝑟𝑑𝑠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𝑐𝑙𝑎𝑠𝑠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𝑟𝑒𝑐𝑜𝑟𝑑𝑠</m:t>
                        </m:r>
                      </m:den>
                    </m:f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D96EEB-FA9E-BE13-4B6C-8BBC6DCAD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135" y="1362010"/>
                <a:ext cx="10840627" cy="5271872"/>
              </a:xfr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334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F93A-7873-A960-2B73-EC032F81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INFORMATION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1BB0E-7C72-769F-46D8-50D7B0E29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233056"/>
                <a:ext cx="10840627" cy="5526332"/>
              </a:xfrm>
            </p:spPr>
            <p:txBody>
              <a:bodyPr>
                <a:noAutofit/>
              </a:bodyPr>
              <a:lstStyle/>
              <a:p>
                <a:pPr marL="179388" indent="-1793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Now, suppose we were to partition the records in D on some attribute A, which may result splitting D into v partitions or subsets, 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…</m:t>
                    </m:r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IN" sz="2000" dirty="0"/>
                  <a:t>}. Then Information Gain by attribute A is:</a:t>
                </a:r>
              </a:p>
              <a:p>
                <a:pPr lvl="3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2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𝐼𝑛𝑓𝑜</m:t>
                        </m:r>
                      </m:e>
                      <m:sub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IN" sz="2600" i="1" dirty="0"/>
                  <a:t>(D) = </a:t>
                </a:r>
                <a14:m>
                  <m:oMath xmlns:m="http://schemas.openxmlformats.org/officeDocument/2006/math"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IN" sz="2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𝑡𝑜𝑡𝑎𝑙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𝑛𝑢𝑚𝑏𝑒𝑟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𝑜𝑓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𝑟𝑒𝑐𝑜𝑟𝑑𝑠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𝑠𝑢𝑏𝑠𝑒𝑡</m:t>
                                </m:r>
                                <m:sSubSup>
                                  <m:sSubSupPr>
                                    <m:ctrlP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(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2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26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IN" sz="2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IN" sz="2600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)</m:t>
                                </m:r>
                              </m:num>
                              <m:den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𝑡𝑜𝑡𝑎𝑙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𝑛𝑢𝑚𝑏𝑒𝑟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𝑜𝑓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𝑟𝑒𝑐𝑜𝑟𝑑𝑠</m:t>
                                </m:r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(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6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IN" sz="2600" b="0" i="1" smtClean="0">
                                    <a:latin typeface="Cambria Math" panose="02040503050406030204" pitchFamily="18" charset="0"/>
                                  </a:rPr>
                                  <m:t> )</m:t>
                                </m:r>
                              </m:den>
                            </m:f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m:rPr>
                                <m:nor/>
                              </m:rPr>
                              <a:rPr lang="en-IN" sz="2600" i="1" dirty="0"/>
                              <m:t>Info(</m:t>
                            </m:r>
                            <m:sSubSup>
                              <m:sSubSup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bSup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N" sz="2600" i="1" dirty="0"/>
              </a:p>
              <a:p>
                <a:pPr marL="457200" lvl="3" indent="-457200">
                  <a:buFont typeface="Arial" panose="020B0604020202020204" pitchFamily="34" charset="0"/>
                  <a:buChar char="•"/>
                </a:pPr>
                <a:endParaRPr lang="en-IN" sz="2000" dirty="0"/>
              </a:p>
              <a:p>
                <a:pPr marL="179388" lvl="3" indent="-1793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Information gained by branching on A is given as:</a:t>
                </a:r>
              </a:p>
              <a:p>
                <a:pPr marL="273050" lvl="4" indent="1878013">
                  <a:buNone/>
                </a:pPr>
                <a:r>
                  <a:rPr lang="en-IN" sz="2000" dirty="0"/>
                  <a:t>	</a:t>
                </a:r>
                <a:r>
                  <a:rPr lang="en-IN" sz="3200" i="1" dirty="0"/>
                  <a:t>Gain(A)</a:t>
                </a:r>
                <a:r>
                  <a:rPr lang="en-IN" sz="3200" dirty="0"/>
                  <a:t> </a:t>
                </a:r>
                <a:r>
                  <a:rPr lang="en-IN" sz="3200" i="1" dirty="0"/>
                  <a:t>= Info(D) –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𝐼𝑛𝑓𝑜</m:t>
                        </m:r>
                      </m:e>
                      <m:sub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IN" sz="3200" i="1" dirty="0"/>
                  <a:t>(D)</a:t>
                </a:r>
              </a:p>
              <a:p>
                <a:pPr marL="274320" lvl="4" indent="0">
                  <a:buNone/>
                </a:pPr>
                <a:endParaRPr lang="en-IN" sz="2000" dirty="0"/>
              </a:p>
              <a:p>
                <a:pPr marL="179388" lvl="4" indent="-1793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 attribute A with the highest information gain, Gain(A), is chosen as the “Splitting Attribute”.</a:t>
                </a:r>
              </a:p>
              <a:p>
                <a:pPr marL="179388" lvl="4" indent="-1793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If A comprises of discrete values, then we will map each value to a single, unique partition (one – to – one mapping).</a:t>
                </a:r>
              </a:p>
              <a:p>
                <a:pPr marL="179388" lvl="4" indent="-1793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If A comprises of continuous values, then we will define “Split points”, one partition in between each such point.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1BB0E-7C72-769F-46D8-50D7B0E29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233056"/>
                <a:ext cx="10840627" cy="5526332"/>
              </a:xfrm>
              <a:blipFill>
                <a:blip r:embed="rId2"/>
                <a:stretch>
                  <a:fillRect l="-506" r="-281" b="-27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55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EF09-8440-511F-2F5D-08B9FC46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GAIN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2BA40B-A1BD-B64B-8C24-914D8130D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799" y="1298050"/>
                <a:ext cx="10840627" cy="4558144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 information gain measure is biased toward tests that returns many outcomes/subsets.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For e.g. : suppose attribute R is a unique identifier for the records. The information gain upon spitting on R will always be maximum, as it will result in pure classification of records. But such type of spitting is useless for classification.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measure the spitting by information gained and weights of corresponding subsets.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A new parameter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𝑆𝑝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𝑖𝑡𝐼𝑛𝑓𝑜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defined as:</a:t>
                </a:r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𝑆𝑝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𝑖𝑡𝐼𝑛𝑓𝑜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IN" sz="32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IN" sz="32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p>
                                  </m:sSub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func>
                                <m:func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IN" sz="32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32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3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IN" sz="3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IN" sz="3200" i="1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num>
                                        <m:den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2BA40B-A1BD-B64B-8C24-914D8130D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799" y="1298050"/>
                <a:ext cx="10840627" cy="4558144"/>
              </a:xfrm>
              <a:blipFill>
                <a:blip r:embed="rId2"/>
                <a:stretch>
                  <a:fillRect l="-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73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E9C9-F5C0-046D-6FB4-AAECA065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GAIN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6D37-6C02-DB4D-3BD4-06B0663133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799" y="1490587"/>
                <a:ext cx="10840627" cy="4558144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𝑆𝑝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𝑖𝑡𝐼𝑛𝑓𝑜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represents the potential information generated by splitting the training data set, D, into v partitions, corresponding to the v outcomes of a test on attribute 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Finally, Gain Ratio is defined as:</a:t>
                </a:r>
              </a:p>
              <a:p>
                <a:pPr lvl="1" indent="0">
                  <a:buNone/>
                </a:pPr>
                <a:r>
                  <a:rPr lang="en-IN" sz="2000" dirty="0"/>
                  <a:t>		</a:t>
                </a:r>
                <a:r>
                  <a:rPr lang="en-IN" sz="3200" i="1" dirty="0" err="1"/>
                  <a:t>GainRatio</a:t>
                </a:r>
                <a:r>
                  <a:rPr lang="en-IN" sz="3200" i="1" dirty="0"/>
                  <a:t>(A)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𝐺𝑎𝑖𝑛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𝑆𝑝</m:t>
                            </m:r>
                            <m: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𝑖𝑡𝐼𝑛𝑓𝑜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</m:oMath>
                </a14:m>
                <a:endParaRPr lang="en-IN" sz="3200" i="1" dirty="0"/>
              </a:p>
              <a:p>
                <a:pPr marL="268288" lvl="1" indent="-2682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𝑆𝑝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𝑖𝑡𝐼𝑛𝑓𝑜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IN" sz="2000" dirty="0"/>
                  <a:t> approaches 0(zero) , the </a:t>
                </a:r>
                <a:r>
                  <a:rPr lang="en-IN" sz="2000" i="1" dirty="0" err="1"/>
                  <a:t>GainRatio</a:t>
                </a:r>
                <a:r>
                  <a:rPr lang="en-IN" sz="2000" dirty="0"/>
                  <a:t> becomes unstable and unreliable. Hence, extra constraint is added, which is : the information gain of the test selected must be </a:t>
                </a:r>
                <a:r>
                  <a:rPr lang="en-IN" sz="2000" b="1" dirty="0"/>
                  <a:t>large</a:t>
                </a:r>
                <a:r>
                  <a:rPr lang="en-IN" sz="2000" dirty="0"/>
                  <a:t>—at least as great as the average gain over all tests examined.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A6D37-6C02-DB4D-3BD4-06B0663133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799" y="1490587"/>
                <a:ext cx="10840627" cy="4558144"/>
              </a:xfrm>
              <a:blipFill>
                <a:blip r:embed="rId2"/>
                <a:stretch>
                  <a:fillRect l="-506" r="-1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0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408C-E10A-275B-2ED0-D07946BF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GINI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E44FC0-C64F-58EF-7CA7-109B4A444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8135" y="1362010"/>
                <a:ext cx="10840627" cy="4558144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Unlike others, Gini Index measures the spilt of dataset D into 2 parts,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measures the impurity of 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Given by formula:</a:t>
                </a:r>
              </a:p>
              <a:p>
                <a:pPr marL="1165225" lvl="1" indent="0">
                  <a:buNone/>
                </a:pPr>
                <a:r>
                  <a:rPr lang="en-IN" sz="2000" i="1" dirty="0"/>
                  <a:t>	</a:t>
                </a:r>
                <a:r>
                  <a:rPr lang="en-IN" sz="3200" i="1" dirty="0"/>
                  <a:t>Gini(D) = 1 -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I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3200" b="0" i="1" smtClean="0">
                                <a:latin typeface="Cambria Math" panose="02040503050406030204" pitchFamily="18" charset="0"/>
                              </a:rPr>
                              <m:t>  2</m:t>
                            </m:r>
                          </m:sup>
                        </m:sSubSup>
                      </m:e>
                    </m:nary>
                  </m:oMath>
                </a14:m>
                <a:endParaRPr lang="en-IN" sz="3200" i="1" dirty="0"/>
              </a:p>
              <a:p>
                <a:pPr marL="268288" lvl="1" indent="-2682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assumes dataset division into 2 parts. These two parts may contain even overlapping classes/labels.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E44FC0-C64F-58EF-7CA7-109B4A444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8135" y="1362010"/>
                <a:ext cx="10840627" cy="4558144"/>
              </a:xfr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50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0B6C-0310-B31E-A52F-DF87763C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GINI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3203B-E41E-66CA-C46C-2C4F4D75BE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362010"/>
                <a:ext cx="10840627" cy="4558144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Assuming attribute A be the spilt criterion, if it contains v discrete values, then there are total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en-IN" sz="2000" dirty="0"/>
                  <a:t> - 2 possible ways to two partition set. Gini index for choosing A as spilt criterion is given by:</a:t>
                </a:r>
              </a:p>
              <a:p>
                <a:pPr marL="107632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  <a:p>
                <a:pPr marL="268288" lvl="1" indent="-268288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 reduction in impurity that would be incurred by a binary split on attribute A is given by:</a:t>
                </a:r>
              </a:p>
              <a:p>
                <a:pPr marL="1076325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𝐺𝑖𝑛𝑖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3203B-E41E-66CA-C46C-2C4F4D75BE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362010"/>
                <a:ext cx="10840627" cy="4558144"/>
              </a:xfrm>
              <a:blipFill>
                <a:blip r:embed="rId2"/>
                <a:stretch>
                  <a:fillRect l="-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7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6664-31CC-E78C-A715-3EA1A98D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ABOUT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4A92-0655-4236-CFFD-3DF26BD88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233055"/>
            <a:ext cx="10840627" cy="4952591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IN" sz="1800" dirty="0"/>
              <a:t>Iris dataset: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Number of attributes: 4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About attributes: length and width of both sepal and petal; all continuous attributes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Dimensions: 150 records x 5 attributes (including class)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Class: </a:t>
            </a:r>
            <a:r>
              <a:rPr lang="en-IN" sz="1800" dirty="0" err="1"/>
              <a:t>Setosa</a:t>
            </a:r>
            <a:r>
              <a:rPr lang="en-IN" sz="1800" dirty="0"/>
              <a:t>, Versicolor, Virginica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/>
              <a:t>Lung cancer dataset: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Number of attributes: 15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About attributes: gender, age and other health factors; all binary, except age(continuous)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Dimensions: 309 records x 16 attributes (including class)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Class: YES, NO</a:t>
            </a:r>
          </a:p>
          <a:p>
            <a:pPr marL="342900" indent="-342900">
              <a:buFont typeface="+mj-lt"/>
              <a:buAutoNum type="alphaUcPeriod"/>
            </a:pPr>
            <a:r>
              <a:rPr lang="en-IN" sz="1800" dirty="0"/>
              <a:t>Credit Approval dataset: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Number of attributes: 15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About attributes: mixture of 6 continuous and 9 categorical data (total 42 categories)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Dimensions: 653 records x 16 attributes (including class)</a:t>
            </a:r>
          </a:p>
          <a:p>
            <a:pPr marL="845820" lvl="1" indent="-342900">
              <a:buAutoNum type="arabicPeriod"/>
            </a:pPr>
            <a:r>
              <a:rPr lang="en-IN" sz="1800" dirty="0"/>
              <a:t>Class: +, -</a:t>
            </a:r>
          </a:p>
        </p:txBody>
      </p:sp>
    </p:spTree>
    <p:extLst>
      <p:ext uri="{BB962C8B-B14F-4D97-AF65-F5344CB8AC3E}">
        <p14:creationId xmlns:p14="http://schemas.microsoft.com/office/powerpoint/2010/main" val="1938469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3C16-91D6-BF09-EEB4-6F20EC8C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IRIS DATASET 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C3536-22EB-2A6A-9A09-204CCA0C0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36" b="1396"/>
          <a:stretch>
            <a:fillRect/>
          </a:stretch>
        </p:blipFill>
        <p:spPr>
          <a:xfrm>
            <a:off x="1066800" y="1143000"/>
            <a:ext cx="10084941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6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8906-A15C-2A93-C72A-C170B72B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02876"/>
            <a:ext cx="11125200" cy="79051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EXAMPLE AND APPLICATION : CANCER DATASET 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47A5D-C8DE-5C21-98F7-CFB2F3BF8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36" t="1228" r="1136" b="1213"/>
          <a:stretch>
            <a:fillRect/>
          </a:stretch>
        </p:blipFill>
        <p:spPr>
          <a:xfrm>
            <a:off x="1066800" y="1143000"/>
            <a:ext cx="100584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6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FD63-0DCE-97C6-06E5-DA9A7096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620806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CREDIT DATASET GRAPHS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532955-8717-A9E0-ED16-B9C69C487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" b="1237"/>
          <a:stretch>
            <a:fillRect/>
          </a:stretch>
        </p:blipFill>
        <p:spPr>
          <a:xfrm>
            <a:off x="1079171" y="1143000"/>
            <a:ext cx="10046029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1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E119-B370-8596-70B7-FD3BCE4C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INFORMATION GAIN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9E8B51-3B39-D27C-134C-D166D7673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55" r="12210" b="12261"/>
          <a:stretch>
            <a:fillRect/>
          </a:stretch>
        </p:blipFill>
        <p:spPr>
          <a:xfrm>
            <a:off x="1066800" y="1143001"/>
            <a:ext cx="10058399" cy="529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9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EE60-D1F7-014C-3E71-E0054F59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5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GAIN RATIO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D96A11B-34C8-7D97-9B47-EEA31C01E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485" b="2877"/>
          <a:stretch>
            <a:fillRect/>
          </a:stretch>
        </p:blipFill>
        <p:spPr>
          <a:xfrm>
            <a:off x="1088135" y="1143000"/>
            <a:ext cx="1001573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09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667C-DEA1-60EA-EF47-3E586D8A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GINI INDEX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F26F9C-E24D-8BCE-B7F6-153F03624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665" b="8337"/>
          <a:stretch>
            <a:fillRect/>
          </a:stretch>
        </p:blipFill>
        <p:spPr>
          <a:xfrm>
            <a:off x="1066800" y="1143001"/>
            <a:ext cx="10058400" cy="529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9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6011-764F-FDDB-DE00-82ACE7C9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9CD5-2813-FEA3-A722-14D9E5F6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71500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EXAMPLE AND APPLICATION : GINI INDEX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122478-6E67-64CE-2238-FDD8482D2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143001"/>
            <a:ext cx="100584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61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0199-D2CF-9159-17B7-D8590D90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9771"/>
            <a:ext cx="10840626" cy="7905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C9CFA-3456-CF12-A455-76DE68CDD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299882"/>
            <a:ext cx="10840627" cy="513901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Book: Data Mining: Concepts and Techniques 3rd Edition Morgan Kaufmann 2011</a:t>
            </a:r>
          </a:p>
          <a:p>
            <a:pPr marL="342900" indent="-342900">
              <a:buAutoNum type="arabicPeriod"/>
            </a:pPr>
            <a:r>
              <a:rPr lang="en-IN" sz="2000" dirty="0"/>
              <a:t>Iris dataset: </a:t>
            </a:r>
            <a:r>
              <a:rPr lang="en-IN" sz="2000" dirty="0">
                <a:hlinkClick r:id="rId2"/>
              </a:rPr>
              <a:t>https://www.kaggle.com/datasets/himanshunakrani/iris-dataset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Lung cancer dataset: </a:t>
            </a:r>
            <a:r>
              <a:rPr lang="en-IN" sz="2000" dirty="0">
                <a:hlinkClick r:id="rId3"/>
              </a:rPr>
              <a:t>https://www.kaggle.com/datasets/mysarahmadbhat/lung-cancer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Credit Approval dataset: </a:t>
            </a:r>
            <a:r>
              <a:rPr lang="en-IN" sz="2000" dirty="0">
                <a:hlinkClick r:id="rId4"/>
              </a:rPr>
              <a:t>https://www.kaggle.com/datasets/echo9k/uci-credit-approval/data</a:t>
            </a: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dirty="0"/>
              <a:t>Sample code: </a:t>
            </a:r>
            <a:r>
              <a:rPr lang="en-IN" sz="2000" dirty="0">
                <a:hlinkClick r:id="rId5"/>
              </a:rPr>
              <a:t>https://github.com/PradyumUmale/dwm_presentation_grp4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1058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E918-B839-15E5-261A-14DFF19E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065" y="2945941"/>
            <a:ext cx="5886405" cy="1357118"/>
          </a:xfrm>
        </p:spPr>
        <p:txBody>
          <a:bodyPr>
            <a:noAutofit/>
          </a:bodyPr>
          <a:lstStyle/>
          <a:p>
            <a:r>
              <a:rPr lang="en-IN" sz="7200" i="1" dirty="0">
                <a:solidFill>
                  <a:srgbClr val="00B0F0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4822168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703</TotalTime>
  <Words>1098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Algerian</vt:lpstr>
      <vt:lpstr>Arial</vt:lpstr>
      <vt:lpstr>Cambria Math</vt:lpstr>
      <vt:lpstr>Neue Haas Grotesk Text Pro</vt:lpstr>
      <vt:lpstr>System Font Regular</vt:lpstr>
      <vt:lpstr>Bjorn</vt:lpstr>
      <vt:lpstr>DECISION TREE INDUCTION</vt:lpstr>
      <vt:lpstr>CONTENT</vt:lpstr>
      <vt:lpstr>INTRODUCTION : DECISION TREE</vt:lpstr>
      <vt:lpstr>INTRODUCTION : ATTRIBUTE SELECTION MEASURES</vt:lpstr>
      <vt:lpstr>INFORMATION GAIN</vt:lpstr>
      <vt:lpstr>INFORMATION GAIN</vt:lpstr>
      <vt:lpstr>GAIN RATIO</vt:lpstr>
      <vt:lpstr>GAIN RATIO</vt:lpstr>
      <vt:lpstr>GINI INDEX</vt:lpstr>
      <vt:lpstr>GINI INDEX</vt:lpstr>
      <vt:lpstr>EXAMPLE AND APPLICATION : ABOUT DATASETS</vt:lpstr>
      <vt:lpstr>EXAMPLE AND APPLICATION : IRIS DATASET GRAPHS</vt:lpstr>
      <vt:lpstr>EXAMPLE AND APPLICATION : CANCER DATASET GRAPHS</vt:lpstr>
      <vt:lpstr>EXAMPLE AND APPLICATION : CREDIT DATASET GRAPHS</vt:lpstr>
      <vt:lpstr>EXAMPLE AND APPLICATION : INFORMATION GAIN</vt:lpstr>
      <vt:lpstr>EXAMPLE AND APPLICATION : GAIN RATIO</vt:lpstr>
      <vt:lpstr>EXAMPLE AND APPLICATION : GINI INDEX</vt:lpstr>
      <vt:lpstr>EXAMPLE AND APPLICATION : GINI INDEX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Pradyum Umale</dc:creator>
  <cp:lastModifiedBy>Pradyum Umale</cp:lastModifiedBy>
  <cp:revision>17</cp:revision>
  <dcterms:created xsi:type="dcterms:W3CDTF">2026-09-29T09:22:49Z</dcterms:created>
  <dcterms:modified xsi:type="dcterms:W3CDTF">2026-10-02T05:33:17Z</dcterms:modified>
</cp:coreProperties>
</file>